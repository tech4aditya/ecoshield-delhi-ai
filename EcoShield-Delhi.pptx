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0694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006948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8D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 ·   AUTONOMOUS LOGISTICS   ·   URBAN AIR QUALITY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EcoShield Delhi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5F8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Pollution-Control System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9D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decentralised fleet of anti-smog water-sprinkler tankers and dedicated road-cleaning trucks, routed across the Delhi Metro network by a central AI coordinator running a modified multi-objective Dijkstra solver.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53492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0694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5349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5F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krishiv47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31720" y="534924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0C3A2B"/>
          </a:solidFill>
          <a:ln/>
        </p:spPr>
      </p:sp>
      <p:sp>
        <p:nvSpPr>
          <p:cNvPr id="11" name="Text 9"/>
          <p:cNvSpPr/>
          <p:nvPr/>
        </p:nvSpPr>
        <p:spPr>
          <a:xfrm>
            <a:off x="2331720" y="53492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5F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krishiv47.github.io/ecoshield-delhi-ai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0" y="5349240"/>
            <a:ext cx="4023360" cy="384048"/>
          </a:xfrm>
          <a:prstGeom prst="roundRect">
            <a:avLst>
              <a:gd name="adj" fmla="val 50000"/>
            </a:avLst>
          </a:prstGeom>
          <a:solidFill>
            <a:srgbClr val="0C3A2B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5349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3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github.com/krishiv47/ecoshield-delhi-ai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Delhi's air is a moving, time-critical target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hotspots flare unpredictably with traffic surges, industrial haze, inversions and road &amp; construction dust resuspended by passing traffic. Static smog towers cannot follow the pollution — mitigation has to be mobile, predictive and coordinated.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344728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0175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(ug/m3) marks a severe hotspot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1688" y="2788920"/>
            <a:ext cx="344728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36008" y="30175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 dust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36008" y="3886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leading PM source, kicked up by traffic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83296" y="2788920"/>
            <a:ext cx="344728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57616" y="30175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B41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Minutes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57616" y="3886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to act before a spike worsens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029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7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 hotspots before sensors confirm them, coordinate many trucks as one fleet, and keep every unit fuelled, watered and optimally routed — autonomously.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0E3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EcoShield Delhi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344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brain, two coordinated fleets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47288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9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AI Coordinator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telemetry of the network and fleet. Predicts spikes, dispatches sub-fleets, handles exceptions and enforces the supply lifecycle.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61688" y="1691640"/>
            <a:ext cx="3447288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36008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9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truck fleets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36008" y="242316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anti-smog water-sprinkler tankers that mist hotspots, plus 10 dedicated road-cleaning trucks that wash roads and suppress dust.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83296" y="1691640"/>
            <a:ext cx="3447288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57616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9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Delhi Metro network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57616" y="242316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real stations across all lines plus 6 water / charging depots form the directed road graph the fleet operates 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08792" cy="1600200"/>
          </a:xfrm>
          <a:prstGeom prst="roundRect">
            <a:avLst>
              <a:gd name="adj" fmla="val 5143"/>
            </a:avLst>
          </a:prstGeom>
          <a:solidFill>
            <a:srgbClr val="EEF0FF"/>
          </a:solidFill>
          <a:ln w="12700">
            <a:solidFill>
              <a:srgbClr val="C3C0F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343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23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“agentic”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" y="47091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3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perceives (live AQI + traffic), reasons (predict, score, route) and acts (dispatch, spray, wash, replenish) in a continuous closed loop — with no human in the routing decision. Drivers are bounded actuators behind a lockable console.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0E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EcoShield Delhi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344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Strict OOD, clean closed-loop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80560" y="15544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006948"/>
          </a:solidFill>
          <a:ln w="12700">
            <a:solidFill>
              <a:srgbClr val="0069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80560" y="16642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AI Coordinator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80560" y="20299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F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telemetry · decision loop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280160" y="288036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EEF0FF"/>
          </a:solidFill>
          <a:ln w="12700">
            <a:solidFill>
              <a:srgbClr val="C3C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9900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23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analytics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33558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41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&gt;40% influx over 2 ticks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EEF0FF"/>
          </a:solidFill>
          <a:ln w="12700">
            <a:solidFill>
              <a:srgbClr val="C3C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9900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23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Fleet dispatcher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33558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41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matrix · ETA sync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288036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EEF0FF"/>
          </a:solidFill>
          <a:ln w="12700">
            <a:solidFill>
              <a:srgbClr val="C3C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29900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23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Exception handler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0" y="33558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41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· supply lifecycle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280160" y="429768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44074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Transit graph G=(V,E)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7731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+ depots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429768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44074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Dijkstra router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63440" y="47731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weights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46720" y="429768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44074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Truck fleets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46720" y="47731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every tick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120640" y="2423160"/>
            <a:ext cx="-2377440" cy="438912"/>
          </a:xfrm>
          <a:prstGeom prst="line">
            <a:avLst/>
          </a:prstGeom>
          <a:noFill/>
          <a:ln w="19050">
            <a:solidFill>
              <a:srgbClr val="6D7A7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080760" y="2423160"/>
            <a:ext cx="0" cy="438912"/>
          </a:xfrm>
          <a:prstGeom prst="line">
            <a:avLst/>
          </a:prstGeom>
          <a:noFill/>
          <a:ln w="19050">
            <a:solidFill>
              <a:srgbClr val="6D7A7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040880" y="2423160"/>
            <a:ext cx="2377440" cy="438912"/>
          </a:xfrm>
          <a:prstGeom prst="line">
            <a:avLst/>
          </a:prstGeom>
          <a:noFill/>
          <a:ln w="19050">
            <a:solidFill>
              <a:srgbClr val="6D7A7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743200" y="3749040"/>
            <a:ext cx="0" cy="530352"/>
          </a:xfrm>
          <a:prstGeom prst="line">
            <a:avLst/>
          </a:prstGeom>
          <a:noFill/>
          <a:ln w="19050">
            <a:solidFill>
              <a:srgbClr val="6D7A7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080760" y="3749040"/>
            <a:ext cx="0" cy="530352"/>
          </a:xfrm>
          <a:prstGeom prst="line">
            <a:avLst/>
          </a:prstGeom>
          <a:noFill/>
          <a:ln w="19050">
            <a:solidFill>
              <a:srgbClr val="6D7A7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418320" y="3749040"/>
            <a:ext cx="0" cy="530352"/>
          </a:xfrm>
          <a:prstGeom prst="line">
            <a:avLst/>
          </a:prstGeom>
          <a:noFill/>
          <a:ln w="19050">
            <a:solidFill>
              <a:srgbClr val="6D7A7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418320" y="5166360"/>
            <a:ext cx="0" cy="640080"/>
          </a:xfrm>
          <a:prstGeom prst="line">
            <a:avLst/>
          </a:prstGeom>
          <a:noFill/>
          <a:ln w="15240">
            <a:solidFill>
              <a:srgbClr val="6D7A7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080760" y="5806440"/>
            <a:ext cx="3337560" cy="0"/>
          </a:xfrm>
          <a:prstGeom prst="line">
            <a:avLst/>
          </a:prstGeom>
          <a:noFill/>
          <a:ln w="15240">
            <a:solidFill>
              <a:srgbClr val="6D7A7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080760" y="2423160"/>
            <a:ext cx="0" cy="3383280"/>
          </a:xfrm>
          <a:prstGeom prst="line">
            <a:avLst/>
          </a:prstGeom>
          <a:noFill/>
          <a:ln w="15240">
            <a:solidFill>
              <a:srgbClr val="6D7A72"/>
            </a:solidFill>
            <a:prstDash val="dash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217920" y="5532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feeds back to the coordinator — a continuous closed loop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0E3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EcoShield Delhi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344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directed graph with live, stateful telemetry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035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35000"/>
              </a:lnSpc>
              <a:buSzPct val="100000"/>
              <a:buChar char="•"/>
            </a:pPr>
            <a:r>
              <a:rPr lang="en-US" sz="1600" b="1" dirty="0">
                <a:solidFill>
                  <a:srgbClr val="19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(V):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stations carrying dynamic PM2.5 and traffic influx, with rolling history.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9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nodes: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Sewage Treatment Plants (recycled water) and CNG/EV depots, via an abstract base.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9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(E):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road segments; congestion factor and emission penalty mutate each tick.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9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Geometry: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edge snapped to real road shapes (OSRM) so paths follow actual streets.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03720" y="1783080"/>
            <a:ext cx="22402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04888" y="1929384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9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104888" y="24963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stations, all lines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299448" y="1783080"/>
            <a:ext cx="22402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500616" y="1929384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9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500616" y="24963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/ charging depots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03720" y="3200400"/>
            <a:ext cx="22402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04888" y="3346704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B41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104888" y="391363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weighted edges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299448" y="3200400"/>
            <a:ext cx="22402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00616" y="3346704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B41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500616" y="391363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trucks: 16 sprinklers + 10 cleaners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Truck states:  IDLE   ·   EN_ROUTE   ·   SPRAYING   ·   STUCK   ·   REPLENISHING   ·   PATROL (road cleaners)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0E3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EcoShield Delhi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344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Modified multi-objective Dijkstra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weight blends congestion-stretched travel time with a dynamic, vehicle-aware emission overhead — not static distance.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908792" cy="1691640"/>
          </a:xfrm>
          <a:prstGeom prst="roundRect">
            <a:avLst>
              <a:gd name="adj" fmla="val 4324"/>
            </a:avLst>
          </a:prstGeom>
          <a:solidFill>
            <a:srgbClr val="0F172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95728"/>
            <a:ext cx="10149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W(e) = ( distance_km / base_speed ) x traffic_density_factor + emission_penalty</a:t>
            </a: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emission_penalty = COEF x emission_weight(vehicle) x traffic_factor x severity</a:t>
            </a: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6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levied only when a heavy chassis idles into an already-critical cell 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344728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41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Vehicle-aware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736592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/ Medium / Heavy get different optimal paths over the same graph.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4160520"/>
            <a:ext cx="344728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41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36008" y="4736592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recomputed from live telemetry; gridlock reroutes onto open bypasses.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83296" y="4160520"/>
            <a:ext cx="344728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57616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41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57616" y="4736592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Binary-heap Dijkstra, O((V+E) log V), in Python and in the browser.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0E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EcoShield Delhi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344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closed loop, every tick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0694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5506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002536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live PM2.5 and traffic from every station and road segment.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70632"/>
            <a:ext cx="457200" cy="457200"/>
          </a:xfrm>
          <a:prstGeom prst="ellipse">
            <a:avLst/>
          </a:prstGeom>
          <a:solidFill>
            <a:srgbClr val="4B41E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7340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081528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 breach when traffic rises &gt;40% over two ticks, before sensors.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457200" cy="457200"/>
          </a:xfrm>
          <a:prstGeom prst="ellipse">
            <a:avLst/>
          </a:prstGeom>
          <a:solidFill>
            <a:srgbClr val="00694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8130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Dispatch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160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matrix picks a 2-3 truck sub-fleet; arrivals are staggered.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928616"/>
            <a:ext cx="457200" cy="457200"/>
          </a:xfrm>
          <a:prstGeom prst="ellipse">
            <a:avLst/>
          </a:prstGeom>
          <a:solidFill>
            <a:srgbClr val="4B41E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28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892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239512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Dijkstra computes each truck's vehicle-aware path.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1691640"/>
            <a:ext cx="457200" cy="457200"/>
          </a:xfrm>
          <a:prstGeom prst="ellipse">
            <a:avLst/>
          </a:prstGeom>
          <a:solidFill>
            <a:srgbClr val="006948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0" y="165506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Mitigate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0" y="2002536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Tankers mist hotspots; road cleaners wash streets and bind dust.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2770632"/>
            <a:ext cx="457200" cy="457200"/>
          </a:xfrm>
          <a:prstGeom prst="ellipse">
            <a:avLst/>
          </a:prstGeom>
          <a:solidFill>
            <a:srgbClr val="4B41E1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27340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0" y="3081528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stuck trucks: mist in place, or reroute to an open unit.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17920" y="3849624"/>
            <a:ext cx="457200" cy="457200"/>
          </a:xfrm>
          <a:prstGeom prst="ellipse">
            <a:avLst/>
          </a:prstGeom>
          <a:solidFill>
            <a:srgbClr val="006948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0" y="38130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Replenish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0" y="4160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water/fuel locks the console and routes to the nearest depot.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17920" y="4928616"/>
            <a:ext cx="457200" cy="457200"/>
          </a:xfrm>
          <a:prstGeom prst="ellipse">
            <a:avLst/>
          </a:prstGeom>
          <a:solidFill>
            <a:srgbClr val="4B41E1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4928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0" y="4892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58000" y="5239512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Continuously, with a resting reserve always on standby.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0E3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EcoShield Delhi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6344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CLEANING &amp; DUST SUPPRESSION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Keeping particles on the ground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017520" cy="3931920"/>
          </a:xfrm>
          <a:prstGeom prst="roundRect">
            <a:avLst>
              <a:gd name="adj" fmla="val 3030"/>
            </a:avLst>
          </a:prstGeom>
          <a:solidFill>
            <a:srgbClr val="0EA5A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868680" y="3566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road-cleaning trucks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42976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2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patrolling the busiest, dustiest corridors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23360" y="1691640"/>
            <a:ext cx="7525512" cy="1874520"/>
          </a:xfrm>
          <a:prstGeom prst="roundRect">
            <a:avLst>
              <a:gd name="adj" fmla="val 4390"/>
            </a:avLst>
          </a:prstGeom>
          <a:solidFill>
            <a:srgbClr val="DFF5F3"/>
          </a:solidFill>
          <a:ln w="12700">
            <a:solidFill>
              <a:srgbClr val="9FE1C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18745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they do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297680" y="2286000"/>
            <a:ext cx="6995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misting the air, the cleaners wet-wash the road surface — binding settled road and construction dust so it stays on the ground instead of being kicked back into the air as PM10 / PM2.5 by passing traffic.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23360" y="3749040"/>
            <a:ext cx="752551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0" y="39319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9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97680" y="4343400"/>
            <a:ext cx="7040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dust is one of Delhi's largest PM sources; resuspension by traffic re-pollutes even cleared zones.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cleaning fleet works the network continuously, so the air-misting tankers are freed to chase acute hotspots.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0E3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EcoShield Delhi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344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“stuck in traffic” branches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FAECE7"/>
          </a:solidFill>
          <a:ln w="12700">
            <a:solidFill>
              <a:srgbClr val="F0997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F5C4B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hotspot zone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12B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Stationary misting curtain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10896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truck trapped within the target zone engages its cannons in place — a pitch-adjusted curtain knocking down the idling exhaust of the surrounding gridlock. The mission is kept.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99632" y="178308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EAF1FB"/>
          </a:solidFill>
          <a:ln w="12700">
            <a:solidFill>
              <a:srgbClr val="85B7E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201168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B5D4F4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2011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from the hotspot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19672" y="2606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En-route interception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19672" y="310896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truck trapped mid-transit has its target revoked and console locked; it is marked STUCK, the graph is recomputed, and the workload is re-allocated to a moving unit with an open bypass.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Recovery:  </a:t>
            </a:r>
            <a:pPr indent="0" marL="0">
              <a:buNone/>
            </a:pPr>
            <a:r>
              <a:rPr lang="en-US" sz="15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units rejoin the reserve once their segment clears; the displaced load is topped up by the next dispatch pass.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0E3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EcoShield Delhi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344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CONSOLE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live, data-driven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Material-style design system (no emojis), rendered over a real Leaflet map of Delhi. Five working views, one continuously-running simulation.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0574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2057400" cy="109728"/>
          </a:xfrm>
          <a:prstGeom prst="rect">
            <a:avLst/>
          </a:prstGeom>
          <a:solidFill>
            <a:srgbClr val="00694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4203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9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Control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map, hotspots, fleet, event stream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52928" y="2286000"/>
            <a:ext cx="20574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52928" y="2286000"/>
            <a:ext cx="2057400" cy="109728"/>
          </a:xfrm>
          <a:prstGeom prst="rect">
            <a:avLst/>
          </a:prstGeom>
          <a:solidFill>
            <a:srgbClr val="006948"/>
          </a:solidFill>
          <a:ln/>
        </p:spPr>
      </p:sp>
      <p:sp>
        <p:nvSpPr>
          <p:cNvPr id="11" name="Text 9"/>
          <p:cNvSpPr/>
          <p:nvPr/>
        </p:nvSpPr>
        <p:spPr>
          <a:xfrm>
            <a:off x="3035808" y="254203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9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Fleet Ops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35808" y="31546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of every truck; open a driver console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65776" y="2286000"/>
            <a:ext cx="20574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65776" y="2286000"/>
            <a:ext cx="2057400" cy="109728"/>
          </a:xfrm>
          <a:prstGeom prst="rect">
            <a:avLst/>
          </a:prstGeom>
          <a:solidFill>
            <a:srgbClr val="006948"/>
          </a:solidFill>
          <a:ln/>
        </p:spPr>
      </p:sp>
      <p:sp>
        <p:nvSpPr>
          <p:cNvPr id="15" name="Text 13"/>
          <p:cNvSpPr/>
          <p:nvPr/>
        </p:nvSpPr>
        <p:spPr>
          <a:xfrm>
            <a:off x="5248656" y="254203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9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Metro Network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48656" y="31546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air quality across all lines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78624" y="2286000"/>
            <a:ext cx="20574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78624" y="2286000"/>
            <a:ext cx="2057400" cy="109728"/>
          </a:xfrm>
          <a:prstGeom prst="rect">
            <a:avLst/>
          </a:prstGeom>
          <a:solidFill>
            <a:srgbClr val="4B41E1"/>
          </a:solidFill>
          <a:ln/>
        </p:spPr>
      </p:sp>
      <p:sp>
        <p:nvSpPr>
          <p:cNvPr id="19" name="Text 17"/>
          <p:cNvSpPr/>
          <p:nvPr/>
        </p:nvSpPr>
        <p:spPr>
          <a:xfrm>
            <a:off x="7461504" y="254203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41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 Engine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61504" y="31546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Dijkstra path finder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491472" y="2286000"/>
            <a:ext cx="20574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491472" y="2286000"/>
            <a:ext cx="2057400" cy="109728"/>
          </a:xfrm>
          <a:prstGeom prst="rect">
            <a:avLst/>
          </a:prstGeom>
          <a:solidFill>
            <a:srgbClr val="4B41E1"/>
          </a:solidFill>
          <a:ln/>
        </p:spPr>
      </p:sp>
      <p:sp>
        <p:nvSpPr>
          <p:cNvPr id="23" name="Text 21"/>
          <p:cNvSpPr/>
          <p:nvPr/>
        </p:nvSpPr>
        <p:spPr>
          <a:xfrm>
            <a:off x="9674352" y="254203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41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Health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74352" y="31546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coordinator telemetry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3891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Tankers shown filled = misting, hollow = resting; road cleaners as teal squares; metro lines in their official colours; gridlock highlighted live.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0E3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EcoShield Delhi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344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human steers, the AI dictates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760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restricted in-cab Driver Console shows the assigned mission, the Dijkstra route and water / charge gauges.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modules are locked for drivers — bounded actuator only.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can open any driver's console (one-way hierarchy).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“console locked” banner appears whenever the AI overrides the route.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66560" y="201168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06948"/>
          </a:solidFill>
          <a:ln w="12700">
            <a:solidFill>
              <a:srgbClr val="0069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1214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0" y="248716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FE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Commander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326880" y="201168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21214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0" y="248716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in-cab console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961120" y="2331720"/>
            <a:ext cx="365760" cy="0"/>
          </a:xfrm>
          <a:prstGeom prst="line">
            <a:avLst/>
          </a:prstGeom>
          <a:noFill/>
          <a:ln w="31750">
            <a:solidFill>
              <a:srgbClr val="00694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732520" y="239572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open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326880" y="2697480"/>
            <a:ext cx="365760" cy="0"/>
          </a:xfrm>
          <a:prstGeom prst="line">
            <a:avLst/>
          </a:prstGeom>
          <a:noFill/>
          <a:ln w="31750">
            <a:solidFill>
              <a:srgbClr val="BA1A1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732520" y="270662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3246120"/>
            <a:ext cx="4782312" cy="1828800"/>
          </a:xfrm>
          <a:prstGeom prst="roundRect">
            <a:avLst>
              <a:gd name="adj" fmla="val 4500"/>
            </a:avLst>
          </a:prstGeom>
          <a:solidFill>
            <a:srgbClr val="FBEAEA"/>
          </a:solidFill>
          <a:ln w="12700">
            <a:solidFill>
              <a:srgbClr val="F0959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40880" y="3429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00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Locked for drivers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40880" y="384048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· Fleet Ops · Metro Network · Routing Engine · System Health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0E3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EcoShield Delhi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344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6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Production-grade, fully reproducible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4728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3852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9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engine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395728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3.10+, standard library only. Strict OOD: dataclasses, enums, ABCs, type hints, binary-heap Dijkstra.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61688" y="1737360"/>
            <a:ext cx="344728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36008" y="193852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9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 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36008" y="2395728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+ Inter design system, Leaflet on OpenStreetMap / CARTO. No build step; Mappls-ready via one key.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83296" y="1737360"/>
            <a:ext cx="3447288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57616" y="193852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9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57616" y="2395728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repo, GitHub Pages deploy, continuously-running build, 28 passing tests.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3447288" cy="1600200"/>
          </a:xfrm>
          <a:prstGeom prst="roundRect">
            <a:avLst>
              <a:gd name="adj" fmla="val 5143"/>
            </a:avLst>
          </a:prstGeom>
          <a:solidFill>
            <a:srgbClr val="F7F9FB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22452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69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4400" y="49560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61688" y="4069080"/>
            <a:ext cx="3447288" cy="1600200"/>
          </a:xfrm>
          <a:prstGeom prst="roundRect">
            <a:avLst>
              <a:gd name="adj" fmla="val 5143"/>
            </a:avLst>
          </a:prstGeom>
          <a:solidFill>
            <a:srgbClr val="F7F9FB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36008" y="422452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69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636008" y="49560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dependencies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83296" y="4069080"/>
            <a:ext cx="3447288" cy="1600200"/>
          </a:xfrm>
          <a:prstGeom prst="roundRect">
            <a:avLst>
              <a:gd name="adj" fmla="val 5143"/>
            </a:avLst>
          </a:prstGeom>
          <a:solidFill>
            <a:srgbClr val="F7F9FB"/>
          </a:solidFill>
          <a:ln w="12700">
            <a:solidFill>
              <a:srgbClr val="BCCA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57616" y="422452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B41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357616" y="49560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GitHub Pages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12700">
            <a:solidFill>
              <a:srgbClr val="E0E3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EcoShield Delhi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3447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42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4023360" cy="4023360"/>
          </a:xfrm>
          <a:prstGeom prst="ellipse">
            <a:avLst/>
          </a:prstGeom>
          <a:solidFill>
            <a:srgbClr val="006948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8DB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autonomous shield for Delhi's air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Perceive, predict, dispatch, mitigate — continuously, and without a human in the routing loop.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937760"/>
            <a:ext cx="4572000" cy="384048"/>
          </a:xfrm>
          <a:prstGeom prst="roundRect">
            <a:avLst>
              <a:gd name="adj" fmla="val 50000"/>
            </a:avLst>
          </a:prstGeom>
          <a:solidFill>
            <a:srgbClr val="0C3A2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937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5F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krishiv47.github.io/ecoshield-delhi-ai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94960" y="4937760"/>
            <a:ext cx="4389120" cy="384048"/>
          </a:xfrm>
          <a:prstGeom prst="roundRect">
            <a:avLst>
              <a:gd name="adj" fmla="val 50000"/>
            </a:avLst>
          </a:prstGeom>
          <a:solidFill>
            <a:srgbClr val="0C3A2B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0" y="49377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3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·  github.com/krishiv47/ecoshield-delhi-ai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EcoShield Delhi — Agentic AI Pollution-Control System</dc:title>
  <dc:subject>PptxGenJS Presentation</dc:subject>
  <dc:creator>krishiv47</dc:creator>
  <cp:lastModifiedBy>krishiv47</cp:lastModifiedBy>
  <cp:revision>1</cp:revision>
  <dcterms:created xsi:type="dcterms:W3CDTF">2026-06-15T11:08:36Z</dcterms:created>
  <dcterms:modified xsi:type="dcterms:W3CDTF">2026-06-15T11:08:36Z</dcterms:modified>
</cp:coreProperties>
</file>